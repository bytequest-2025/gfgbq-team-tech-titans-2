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mpact" charset="1" panose="020B0806030902050204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Medium" charset="1" panose="00000600000000000000"/>
      <p:regular r:id="rId18"/>
    </p:embeddedFont>
    <p:embeddedFont>
      <p:font typeface="Anto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79254" y="-145758"/>
            <a:ext cx="14319257" cy="247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1"/>
              </a:lnSpc>
            </a:pPr>
            <a:r>
              <a:rPr lang="en-US" sz="1299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BYTE QUEST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9254" y="2181668"/>
            <a:ext cx="15197502" cy="626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5"/>
              </a:lnSpc>
            </a:pPr>
            <a:r>
              <a:rPr lang="en-US" sz="3699" spc="8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GUARDING TRUTH IN THE ERA OF GENERATIVE AI</a:t>
            </a:r>
          </a:p>
          <a:p>
            <a:pPr algn="ctr">
              <a:lnSpc>
                <a:spcPts val="5475"/>
              </a:lnSpc>
            </a:pPr>
          </a:p>
          <a:p>
            <a:pPr algn="ctr">
              <a:lnSpc>
                <a:spcPts val="5475"/>
              </a:lnSpc>
            </a:pPr>
            <a:r>
              <a:rPr lang="en-US" sz="3699" spc="8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ML-POWERED HALLUCINATION DETECTION &amp; CITATION VERIFICATION</a:t>
            </a:r>
          </a:p>
          <a:p>
            <a:pPr algn="ctr">
              <a:lnSpc>
                <a:spcPts val="5475"/>
              </a:lnSpc>
            </a:pPr>
          </a:p>
          <a:p>
            <a:pPr algn="ctr">
              <a:lnSpc>
                <a:spcPts val="5475"/>
              </a:lnSpc>
            </a:pPr>
            <a:r>
              <a:rPr lang="en-US" sz="3699" spc="8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 TECH TITANS:</a:t>
            </a:r>
          </a:p>
          <a:p>
            <a:pPr algn="ctr">
              <a:lnSpc>
                <a:spcPts val="5475"/>
              </a:lnSpc>
            </a:pPr>
            <a:r>
              <a:rPr lang="en-US" sz="3699" spc="8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SREEJA BC</a:t>
            </a:r>
          </a:p>
          <a:p>
            <a:pPr algn="ctr">
              <a:lnSpc>
                <a:spcPts val="5475"/>
              </a:lnSpc>
            </a:pPr>
            <a:r>
              <a:rPr lang="en-US" sz="3699" spc="8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VIGNESH POOVANNA AS</a:t>
            </a:r>
          </a:p>
          <a:p>
            <a:pPr algn="ctr">
              <a:lnSpc>
                <a:spcPts val="5475"/>
              </a:lnSpc>
            </a:pPr>
            <a:r>
              <a:rPr lang="en-US" sz="3699" spc="8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SONALY MS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2198" y="1658955"/>
            <a:ext cx="16343774" cy="80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33"/>
              </a:lnSpc>
            </a:pPr>
            <a:r>
              <a:rPr lang="en-US" sz="32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Challenge: AI models are designed to be helpful and fluent, which often leads to "Confident Hallucinations"—factually incorrect information presented as absolute truth.</a:t>
            </a:r>
          </a:p>
          <a:p>
            <a:pPr algn="just">
              <a:lnSpc>
                <a:spcPts val="4533"/>
              </a:lnSpc>
            </a:pPr>
          </a:p>
          <a:p>
            <a:pPr algn="just">
              <a:lnSpc>
                <a:spcPts val="4533"/>
              </a:lnSpc>
            </a:pPr>
            <a:r>
              <a:rPr lang="en-US" sz="32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 Set</a:t>
            </a:r>
          </a:p>
          <a:p>
            <a:pPr algn="just">
              <a:lnSpc>
                <a:spcPts val="4533"/>
              </a:lnSpc>
            </a:pPr>
          </a:p>
          <a:p>
            <a:pPr algn="just">
              <a:lnSpc>
                <a:spcPts val="4671"/>
              </a:lnSpc>
            </a:pPr>
            <a:r>
              <a:rPr lang="en-US" sz="33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Fabricated Citations: Creation of "ghost" references that look academically sound but don't exist. </a:t>
            </a:r>
          </a:p>
          <a:p>
            <a:pPr algn="just">
              <a:lnSpc>
                <a:spcPts val="4671"/>
              </a:lnSpc>
            </a:pPr>
            <a:r>
              <a:rPr lang="en-US" sz="33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Dead-End Links: Professional-looking URLs that lead to 404 errors or irrelevant sites.</a:t>
            </a:r>
          </a:p>
          <a:p>
            <a:pPr algn="just">
              <a:lnSpc>
                <a:spcPts val="4533"/>
              </a:lnSpc>
            </a:pPr>
            <a:r>
              <a:rPr lang="en-US" sz="32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Logical Missteps: Statistical claims and factual statements that lack an evidentiary trail.</a:t>
            </a:r>
          </a:p>
          <a:p>
            <a:pPr algn="just">
              <a:lnSpc>
                <a:spcPts val="4533"/>
              </a:lnSpc>
            </a:pPr>
            <a:r>
              <a:rPr lang="en-US" sz="32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Institutional Risk:  Legal, ethical, and reputational damage caused by relying on unverified AI data.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9640" y="492730"/>
            <a:ext cx="11592962" cy="9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06"/>
              </a:lnSpc>
            </a:pPr>
            <a:r>
              <a:rPr lang="en-US" sz="59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"CONFIDENCE" CRISIS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5426" y="2063467"/>
            <a:ext cx="15197921" cy="457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Approach: We have built a multi-layered, ML-driven firewall that sits between AI output and human consumption. Our system doesn’t just read text; it audits it.</a:t>
            </a:r>
          </a:p>
          <a:p>
            <a:pPr algn="just">
              <a:lnSpc>
                <a:spcPts val="3621"/>
              </a:lnSpc>
            </a:pP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Capabilities:</a:t>
            </a:r>
          </a:p>
          <a:p>
            <a:pPr algn="just">
              <a:lnSpc>
                <a:spcPts val="3621"/>
              </a:lnSpc>
            </a:pP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Authenticity Scoring:* Real-time analysis of claim veracity.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Link Auditing:* Instant verification of URL accessibility and source health.</a:t>
            </a:r>
          </a:p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Entity Intelligence:* Cross-referencing named entities (people, places, years) for historical and logical consistency.</a:t>
            </a:r>
          </a:p>
          <a:p>
            <a:pPr algn="just">
              <a:lnSpc>
                <a:spcPts val="36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1948031" y="-133350"/>
            <a:ext cx="19922802" cy="208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OUR SOLUTION – THE VERIFICATION ENGINE</a:t>
            </a:r>
          </a:p>
          <a:p>
            <a:pPr algn="r">
              <a:lnSpc>
                <a:spcPts val="399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66474"/>
            <a:ext cx="14136960" cy="503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leverage the industry's most robust Neural Networks to ensure accuracy.</a:t>
            </a:r>
          </a:p>
          <a:p>
            <a:pPr algn="ctr">
              <a:lnSpc>
                <a:spcPts val="3621"/>
              </a:lnSpc>
            </a:pP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| Model Layer | Role | Primary Tool |</a:t>
            </a:r>
          </a:p>
          <a:p>
            <a:pPr algn="ctr">
              <a:lnSpc>
                <a:spcPts val="3621"/>
              </a:lnSpc>
            </a:pP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Factual Integrity Detects "Hallucination" patterns in natural language.  Vectara Evaluation Model </a:t>
            </a: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Claim LogicClassifies statements as factual, opinion, or speculation. BART-Large (Zero-Shot) </a:t>
            </a: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Entity Audit Identifies and validates key figures and organizations. BERT-Base NER </a:t>
            </a: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Connectivity Real-time verification of digital sources. Automated Link Verifier </a:t>
            </a:r>
          </a:p>
          <a:p>
            <a:pPr algn="ctr">
              <a:lnSpc>
                <a:spcPts val="36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09575"/>
            <a:ext cx="16787640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THE TECHNOLOGY STACK (SIMPLIFIED)</a:t>
            </a:r>
          </a:p>
          <a:p>
            <a:pPr algn="ctr">
              <a:lnSpc>
                <a:spcPts val="110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130479"/>
            <a:ext cx="17486057" cy="465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Ingestion: The system receives AI-generated content.</a:t>
            </a:r>
          </a:p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Extraction: Advanced Regex and NER extract every citation, date, and statistical claim.</a:t>
            </a:r>
          </a:p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Cross-Validation:</a:t>
            </a:r>
          </a:p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layer checks for "overconfident" or "suspicious" language.</a:t>
            </a:r>
          </a:p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Network layer pings URLs to ensure they are live and relevant.</a:t>
            </a:r>
          </a:p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Temporal layer flags dates that haven't happened yet (e.g., a 2027 study cited in 2026).</a:t>
            </a:r>
          </a:p>
          <a:p>
            <a:pPr algn="l">
              <a:lnSpc>
                <a:spcPts val="4041"/>
              </a:lnSpc>
            </a:pPr>
            <a:r>
              <a:rPr lang="en-US" sz="2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Scoring:A "Trust Score" (0–100%) is generated alongside a risk-level summary.</a:t>
            </a:r>
          </a:p>
          <a:p>
            <a:pPr algn="l">
              <a:lnSpc>
                <a:spcPts val="4041"/>
              </a:lnSpc>
            </a:pPr>
          </a:p>
          <a:p>
            <a:pPr algn="l">
              <a:lnSpc>
                <a:spcPts val="488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618139" y="409575"/>
            <a:ext cx="15442513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HOW IT WORKS (THE WORKFLOW)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6508" y="-938824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2089" y="344802"/>
            <a:ext cx="8889266" cy="68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4"/>
              </a:lnSpc>
            </a:pPr>
            <a:r>
              <a:rPr lang="en-US" b="true" sz="38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Actionable Insights (The Output)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3434" y="3446558"/>
            <a:ext cx="15505866" cy="41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931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What the user sees:</a:t>
            </a:r>
          </a:p>
          <a:p>
            <a:pPr algn="l">
              <a:lnSpc>
                <a:spcPts val="4104"/>
              </a:lnSpc>
            </a:pPr>
          </a:p>
          <a:p>
            <a:pPr algn="l">
              <a:lnSpc>
                <a:spcPts val="4104"/>
              </a:lnSpc>
            </a:pPr>
            <a:r>
              <a:rPr lang="en-US" sz="2931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Detailed Citations: Every source is flagged as Verified, Broken, Suspicious, or Hallucinated.</a:t>
            </a:r>
          </a:p>
          <a:p>
            <a:pPr algn="l">
              <a:lnSpc>
                <a:spcPts val="4104"/>
              </a:lnSpc>
            </a:pPr>
            <a:r>
              <a:rPr lang="en-US" sz="2931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High-Risk Flags: Immediate alerts for "overconfident" language or stats without sources.</a:t>
            </a:r>
          </a:p>
          <a:p>
            <a:pPr algn="l">
              <a:lnSpc>
                <a:spcPts val="4104"/>
              </a:lnSpc>
            </a:pPr>
            <a:r>
              <a:rPr lang="en-US" sz="2931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ML Reasoning: Human-readable explanations for why a claim was flagged (e.g., "ML detected 85% probability of speculation").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04618" y="5473935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2262" y="2967489"/>
            <a:ext cx="10427471" cy="557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39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Academic &amp; Legal Research: Ensuring every footnote is a real document.</a:t>
            </a:r>
          </a:p>
          <a:p>
            <a:pPr algn="l" marL="755639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Corporate Intelligence: Preventing the use of "fake stats" in executive briefings.</a:t>
            </a:r>
          </a:p>
          <a:p>
            <a:pPr algn="l" marL="755639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 Moderation: Automating the fact-checking of AI-generated articles.</a:t>
            </a:r>
          </a:p>
          <a:p>
            <a:pPr algn="l" marL="755639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Training: Providing a feedback loop to improve the accuracy of future models.</a:t>
            </a:r>
          </a:p>
          <a:p>
            <a:pPr algn="l" marL="755639" indent="-377820" lvl="1">
              <a:lnSpc>
                <a:spcPts val="4899"/>
              </a:lnSpc>
              <a:buFont typeface="Arial"/>
              <a:buChar char="•"/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259655" y="-133350"/>
            <a:ext cx="9760455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USE CASES &amp; IMPACT</a:t>
            </a:r>
          </a:p>
          <a:p>
            <a:pPr algn="ctr">
              <a:lnSpc>
                <a:spcPts val="110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80922" y="-3460452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6530" y="-40576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2319" y="636195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12499" y="2926839"/>
            <a:ext cx="11680094" cy="483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47"/>
              </a:lnSpc>
            </a:pPr>
            <a:r>
              <a:rPr lang="en-US" sz="38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Roadmap:</a:t>
            </a:r>
          </a:p>
          <a:p>
            <a:pPr algn="just">
              <a:lnSpc>
                <a:spcPts val="5447"/>
              </a:lnSpc>
            </a:pPr>
          </a:p>
          <a:p>
            <a:pPr algn="just">
              <a:lnSpc>
                <a:spcPts val="5447"/>
              </a:lnSpc>
            </a:pPr>
            <a:r>
              <a:rPr lang="en-US" sz="38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Integration with live Web Search APIs for deeper fact-checking.</a:t>
            </a:r>
          </a:p>
          <a:p>
            <a:pPr algn="just">
              <a:lnSpc>
                <a:spcPts val="5447"/>
              </a:lnSpc>
            </a:pPr>
            <a:r>
              <a:rPr lang="en-US" sz="38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Domain-specific modules for Medical and Financial verification.</a:t>
            </a:r>
          </a:p>
          <a:p>
            <a:pPr algn="just">
              <a:lnSpc>
                <a:spcPts val="5447"/>
              </a:lnSpc>
            </a:pPr>
            <a:r>
              <a:rPr lang="en-US" sz="38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Browser extensions for real-time AI auditing.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379017" y="39948"/>
            <a:ext cx="13309300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THE ROAD AHEAD &amp; CONCLUSION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72" y="3726507"/>
            <a:ext cx="14319257" cy="254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DAG9cE7LPyw</dc:identifier>
  <dcterms:modified xsi:type="dcterms:W3CDTF">2011-08-01T06:04:30Z</dcterms:modified>
  <cp:revision>1</cp:revision>
  <dc:title>Black and White Modern Tech Company Presentation</dc:title>
</cp:coreProperties>
</file>